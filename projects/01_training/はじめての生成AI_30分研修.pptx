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導入（約1分）：今日は生成AIの専門用語を覚える場ではなく、まず身近な仕事でAIと相談する体験をします。</a:t>
            </a:r>
          </a:p>
          <a:p>
            <a:r>
              <a:t>到達目標：簡単な指示を出す、必要な情報を追加する、結果を確認して直す、の3つを体験する。</a:t>
            </a:r>
          </a:p>
          <a:p>
            <a:r>
              <a:t>冒頭で「AIが提案した文章は、そのまま確定した事実にはならない」と伝える。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事例提示（約2分）：最初は取引先へのお礼メールという身近な場面を見せる。</a:t>
            </a:r>
          </a:p>
          <a:p>
            <a:r>
              <a:t>「弊社の商品」は依頼文にはない情報。AIの文章が流暢でも事実に基づくとは限らない。</a:t>
            </a:r>
          </a:p>
          <a:p>
            <a:r>
              <a:t>受講者に「そのまま送れるか」を問い、挙手か口頭で考えてもらう。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問いかけ（約4分）：すぐに答えを伝えず、何の情報が不足しているか受講者に考えてもらう。</a:t>
            </a:r>
          </a:p>
          <a:p>
            <a:r>
              <a:t>相手・目的・伝える情報・仕上がりの形式、の4つを例示。</a:t>
            </a:r>
          </a:p>
          <a:p>
            <a:r>
              <a:t>業務で使う場合は、日付・数量・相手先などの確認を特に重視する。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改善例（約3分）：相手・日付・議題・次の行動・文体を設定した例を見比べる。</a:t>
            </a:r>
          </a:p>
          <a:p>
            <a:r>
              <a:t>大切なのは長いプロンプトではなく、必要な事実と制約を伝えること。</a:t>
            </a:r>
          </a:p>
          <a:p>
            <a:r>
              <a:t>「分からないことは推測しない」と付け加える工夫も紹介する。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演習導入（約2分）：受講者各自が身近な社内向けのお知らせを1つ選ぶ。</a:t>
            </a:r>
          </a:p>
          <a:p>
            <a:r>
              <a:t>BBQ、部活動、委員会、交流会など。実在の社内機密や個人情報は入力しない。</a:t>
            </a:r>
          </a:p>
          <a:p>
            <a:r>
              <a:t>操作環境・アカウントがない場合は講師による実演で代替する。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演習1（約4分）：まずは自分の言葉でAIに依頼する。</a:t>
            </a:r>
          </a:p>
          <a:p>
            <a:r>
              <a:t>出力後に「内容のずれ」「欠落」「勝手な追加」を確認してもらう。</a:t>
            </a:r>
          </a:p>
          <a:p>
            <a:r>
              <a:t>AIが日時・場所を作り出した場合は未定と書き換えるなど修正する。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演習2（約4分）：最初から条件を書き切れない場合、「必要な情報を順番に質問して」と依頼する。</a:t>
            </a:r>
          </a:p>
          <a:p>
            <a:r>
              <a:t>講師は会話形式のデモを実施し、決まっていないことは「未定」と答えられると伝える。</a:t>
            </a:r>
          </a:p>
          <a:p>
            <a:r>
              <a:t>質問が長すぎたり不要な場合は、対象や範囲を絞るよう補助する。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演習3（約5分）：同じチャット内で言い換え・短縮・箇条書き化・不足点の確認を試す。</a:t>
            </a:r>
          </a:p>
          <a:p>
            <a:r>
              <a:t>最終チェック：日時、場所、金額、期限、事実の追加、機密の有無。</a:t>
            </a:r>
          </a:p>
          <a:p>
            <a:r>
              <a:t>AIに任せきりにせず、人間が責任を持って内容を確認することを確認する。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応用紹介（約1分）：画像をAIで作り、文字をPowerPointなどで重ねる例を紹介する。</a:t>
            </a:r>
          </a:p>
          <a:p>
            <a:r>
              <a:t>画像生成は時間・利用プランの差があるため必須演習にはしない。</a:t>
            </a:r>
          </a:p>
          <a:p>
            <a:r>
              <a:t>生成画像や素材の権利、社内の公開ルールに注意する。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応用紹介（約2分）：ChatGPT・Claude・Gemini等には外部サービス連携やアプリ制作支援などの機能がある。</a:t>
            </a:r>
          </a:p>
          <a:p>
            <a:r>
              <a:t>機能や利用条件はプラン・設定・更新により異なるため、紹介時点で最新の仕様を確認する。</a:t>
            </a:r>
          </a:p>
          <a:p>
            <a:r>
              <a:t>「どれか1つが絶対に優れている」とは断定せず、業務目的から使い分けを考える。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まとめ（残り時間）：今日の到達目標「まず相談する→必要な条件を伝える→出力を検証する」を振り返る。</a:t>
            </a:r>
          </a:p>
          <a:p>
            <a:r>
              <a:t>助成金・議事録・Excelなど、実務で試したいことを受講者に一つ挙げてもらう。</a:t>
            </a:r>
          </a:p>
          <a:p>
            <a:r>
              <a:t>重要情報は原文・社内規程などと照合し、利用ルールを守る。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73B"/>
          </a:solidFill>
          <a:ln w="12700">
            <a:solidFill>
              <a:srgbClr val="1227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923544"/>
            <a:ext cx="82296" cy="3968496"/>
          </a:xfrm>
          <a:prstGeom prst="rect">
            <a:avLst/>
          </a:prstGeom>
          <a:solidFill>
            <a:srgbClr val="00A598"/>
          </a:solidFill>
          <a:ln w="12700">
            <a:solidFill>
              <a:srgbClr val="00A59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81E6D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TRAINING DESIGN  /  30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141732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850392" y="2651760"/>
            <a:ext cx="82296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5E8F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AIと相談しながら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D5E8F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仕事をラクにする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32104" y="5148072"/>
            <a:ext cx="6629400" cy="658368"/>
          </a:xfrm>
          <a:prstGeom prst="roundRect">
            <a:avLst/>
          </a:prstGeom>
          <a:solidFill>
            <a:srgbClr val="263F55"/>
          </a:solidFill>
          <a:ln w="12700">
            <a:solidFill>
              <a:srgbClr val="263F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523036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考える  →  使ってみる  →  仕事に活かす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235440" y="1325880"/>
            <a:ext cx="2194560" cy="1051560"/>
          </a:xfrm>
          <a:prstGeom prst="roundRect">
            <a:avLst/>
          </a:prstGeom>
          <a:solidFill>
            <a:srgbClr val="286689"/>
          </a:solidFill>
          <a:ln w="12700">
            <a:solidFill>
              <a:srgbClr val="28668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7776" y="1664208"/>
            <a:ext cx="164592" cy="164592"/>
          </a:xfrm>
          <a:prstGeom prst="ellipse">
            <a:avLst/>
          </a:prstGeom>
          <a:solidFill>
            <a:srgbClr val="8BDCD5"/>
          </a:solidFill>
          <a:ln w="12700">
            <a:solidFill>
              <a:srgbClr val="8BDCD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40112" y="1664208"/>
            <a:ext cx="164592" cy="164592"/>
          </a:xfrm>
          <a:prstGeom prst="ellipse">
            <a:avLst/>
          </a:prstGeom>
          <a:solidFill>
            <a:srgbClr val="8BDCD5"/>
          </a:solidFill>
          <a:ln w="12700">
            <a:solidFill>
              <a:srgbClr val="8BDCD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42448" y="1664208"/>
            <a:ext cx="164592" cy="164592"/>
          </a:xfrm>
          <a:prstGeom prst="ellipse">
            <a:avLst/>
          </a:prstGeom>
          <a:solidFill>
            <a:srgbClr val="8BDCD5"/>
          </a:solidFill>
          <a:ln w="12700">
            <a:solidFill>
              <a:srgbClr val="8BDCD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880360"/>
            <a:ext cx="2907792" cy="1170432"/>
          </a:xfrm>
          <a:prstGeom prst="roundRect">
            <a:avLst/>
          </a:prstGeom>
          <a:solidFill>
            <a:srgbClr val="00A598"/>
          </a:solidFill>
          <a:ln w="12700">
            <a:solidFill>
              <a:srgbClr val="00A59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3035808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まずは、AIに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話しかけよう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881360" y="4279392"/>
            <a:ext cx="274320" cy="274320"/>
          </a:xfrm>
          <a:prstGeom prst="ellipse">
            <a:avLst/>
          </a:prstGeom>
          <a:solidFill>
            <a:srgbClr val="F69254"/>
          </a:solidFill>
          <a:ln w="12700">
            <a:solidFill>
              <a:srgbClr val="F6925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20272" y="4663440"/>
            <a:ext cx="164592" cy="164592"/>
          </a:xfrm>
          <a:prstGeom prst="ellipse">
            <a:avLst/>
          </a:prstGeom>
          <a:solidFill>
            <a:srgbClr val="7AAED0"/>
          </a:solidFill>
          <a:ln w="12700">
            <a:solidFill>
              <a:srgbClr val="7AAE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645566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3C8D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制作：中平 隆史   ｜   2026年10月   ｜   ポートフォリオ用サンプル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01  /  考える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同じメールでも、指示の出し方で変わる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まずは、こんな指示をAIに出してみたとします。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819656"/>
            <a:ext cx="10835640" cy="667512"/>
          </a:xfrm>
          <a:prstGeom prst="roundRect">
            <a:avLst/>
          </a:prstGeom>
          <a:solidFill>
            <a:srgbClr val="EAF4FE"/>
          </a:solidFill>
          <a:ln w="12700">
            <a:solidFill>
              <a:srgbClr val="EAF4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947672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あなた → AI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12848" y="1920240"/>
            <a:ext cx="882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「取引先へのお礼メールを作ってください」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76656" y="2670048"/>
            <a:ext cx="10835640" cy="2871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80360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5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AIの回答例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4984" y="3236976"/>
            <a:ext cx="9921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件名：お打ち合わせのお礼</a:t>
            </a:r>
            <a:endParaRPr lang="en-US" sz="1710" dirty="0"/>
          </a:p>
          <a:p>
            <a:pPr algn="l" indent="0" marL="0">
              <a:buNone/>
            </a:pPr>
            <a:endParaRPr lang="en-US" sz="1710" dirty="0"/>
          </a:p>
          <a:p>
            <a:pPr algn="l" indent="0" marL="0">
              <a:buNone/>
            </a:pPr>
            <a:r>
              <a:rPr lang="en-US" sz="171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株式会社〇〇　ご担当者様</a:t>
            </a:r>
            <a:endParaRPr lang="en-US" sz="1710" dirty="0"/>
          </a:p>
          <a:p>
            <a:pPr algn="l" indent="0" marL="0">
              <a:buNone/>
            </a:pPr>
            <a:endParaRPr lang="en-US" sz="1710" dirty="0"/>
          </a:p>
          <a:p>
            <a:pPr algn="l" indent="0" marL="0">
              <a:buNone/>
            </a:pPr>
            <a:r>
              <a:rPr lang="en-US" sz="171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いつもお世話になっております。</a:t>
            </a:r>
            <a:endParaRPr lang="en-US" sz="1710" dirty="0"/>
          </a:p>
          <a:p>
            <a:pPr algn="l" indent="0" marL="0">
              <a:buNone/>
            </a:pPr>
            <a:r>
              <a:rPr lang="en-US" sz="171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先日はお忙しい中、お時間をいただきありがとうございました。</a:t>
            </a:r>
            <a:endParaRPr lang="en-US" sz="1710" dirty="0"/>
          </a:p>
          <a:p>
            <a:pPr algn="l" indent="0" marL="0">
              <a:buNone/>
            </a:pPr>
            <a:r>
              <a:rPr lang="en-US" sz="171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弊社の商品についてご検討いただき、感謝しております。</a:t>
            </a:r>
            <a:endParaRPr lang="en-US" sz="1710" dirty="0"/>
          </a:p>
          <a:p>
            <a:pPr algn="l" indent="0" marL="0">
              <a:buNone/>
            </a:pPr>
            <a:r>
              <a:rPr lang="en-US" sz="171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今後ともよろしくお願いいたします。</a:t>
            </a:r>
            <a:endParaRPr lang="en-US" sz="1710" dirty="0"/>
          </a:p>
        </p:txBody>
      </p:sp>
      <p:sp>
        <p:nvSpPr>
          <p:cNvPr id="17" name="Shape 15"/>
          <p:cNvSpPr/>
          <p:nvPr/>
        </p:nvSpPr>
        <p:spPr>
          <a:xfrm>
            <a:off x="7424928" y="4882896"/>
            <a:ext cx="3364992" cy="393192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4956048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D85B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「弊社の商品」は指示していない…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676656" y="5687568"/>
            <a:ext cx="10835640" cy="557784"/>
          </a:xfrm>
          <a:prstGeom prst="roundRect">
            <a:avLst/>
          </a:prstGeom>
          <a:solidFill>
            <a:srgbClr val="12273B"/>
          </a:solidFill>
          <a:ln w="12700">
            <a:solidFill>
              <a:srgbClr val="1227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5779008"/>
            <a:ext cx="10469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質問：このメール、そのまま送っても大丈夫でしょうか？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01  /  考える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何が足りなかったのでしょうか？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まずは受講者自身で、AIに伝えるべきことを考えてみましょう。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4944" y="1901952"/>
            <a:ext cx="5285232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130552"/>
            <a:ext cx="676656" cy="438912"/>
          </a:xfrm>
          <a:prstGeom prst="roundRect">
            <a:avLst/>
          </a:prstGeom>
          <a:solidFill>
            <a:srgbClr val="EAF4FE"/>
          </a:solidFill>
          <a:ln w="12700">
            <a:solidFill>
              <a:srgbClr val="EAF4F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1854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09928" y="213055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相手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072384" y="21579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誰に送る？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19072" y="26883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会社・担当者・関係性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08776" y="1901952"/>
            <a:ext cx="5285232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2130552"/>
            <a:ext cx="676656" cy="438912"/>
          </a:xfrm>
          <a:prstGeom prst="roundRect">
            <a:avLst/>
          </a:prstGeom>
          <a:solidFill>
            <a:srgbClr val="EAF4FE"/>
          </a:solidFill>
          <a:ln w="12700">
            <a:solidFill>
              <a:srgbClr val="EAF4F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83096" y="21854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213055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86216" y="21579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何のため？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32904" y="26883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お礼／依頼／確認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4944" y="3520440"/>
            <a:ext cx="5285232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3749040"/>
            <a:ext cx="676656" cy="438912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38039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5B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09928" y="37490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情報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072384" y="3776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何を伝える？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19072" y="43068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議題・日時・約束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08776" y="3520440"/>
            <a:ext cx="5285232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1656" y="3749040"/>
            <a:ext cx="676656" cy="438912"/>
          </a:xfrm>
          <a:prstGeom prst="roundRect">
            <a:avLst/>
          </a:prstGeom>
          <a:solidFill>
            <a:srgbClr val="EAF4FE"/>
          </a:solidFill>
          <a:ln w="12700">
            <a:solidFill>
              <a:srgbClr val="EAF4F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3096" y="38039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37490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形式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586216" y="3776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どう仕上げる？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32904" y="43068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丁寧さ・長さ・件名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5330952"/>
            <a:ext cx="10863072" cy="621792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E7F8F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422392"/>
            <a:ext cx="10497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8A7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AIは、伝えられていない事実まで正しく知っているわけではありません。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01  /  考える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条件を伝えると、ここまで具体的になる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相手に仕事を頼むのと同じように、必要な情報を渡します。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5248656" cy="4224528"/>
          </a:xfrm>
          <a:prstGeom prst="roundRect">
            <a:avLst/>
          </a:prstGeom>
          <a:solidFill>
            <a:srgbClr val="EAF4FE"/>
          </a:solidFill>
          <a:ln w="12700">
            <a:solidFill>
              <a:srgbClr val="EAF4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改善した指示</a:t>
            </a:r>
            <a:endParaRPr lang="en-US" sz="1730" dirty="0"/>
          </a:p>
        </p:txBody>
      </p:sp>
      <p:sp>
        <p:nvSpPr>
          <p:cNvPr id="13" name="Text 11"/>
          <p:cNvSpPr/>
          <p:nvPr/>
        </p:nvSpPr>
        <p:spPr>
          <a:xfrm>
            <a:off x="960120" y="24505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相手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267712" y="2450592"/>
            <a:ext cx="3310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90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A商事株式会社　営業部 佐藤様</a:t>
            </a:r>
            <a:endParaRPr lang="en-US" sz="1490" dirty="0"/>
          </a:p>
        </p:txBody>
      </p:sp>
      <p:sp>
        <p:nvSpPr>
          <p:cNvPr id="15" name="Shape 13"/>
          <p:cNvSpPr/>
          <p:nvPr/>
        </p:nvSpPr>
        <p:spPr>
          <a:xfrm>
            <a:off x="960120" y="2935224"/>
            <a:ext cx="462686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F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00837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2267712" y="3008376"/>
            <a:ext cx="3310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90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10月12日の打ち合わせのお礼</a:t>
            </a:r>
            <a:endParaRPr lang="en-US" sz="1490" dirty="0"/>
          </a:p>
        </p:txBody>
      </p:sp>
      <p:sp>
        <p:nvSpPr>
          <p:cNvPr id="18" name="Shape 16"/>
          <p:cNvSpPr/>
          <p:nvPr/>
        </p:nvSpPr>
        <p:spPr>
          <a:xfrm>
            <a:off x="960120" y="3493008"/>
            <a:ext cx="462686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F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56616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2267712" y="3566160"/>
            <a:ext cx="3310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90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新サービス導入に関する打ち合わせ</a:t>
            </a:r>
            <a:endParaRPr lang="en-US" sz="1490" dirty="0"/>
          </a:p>
        </p:txBody>
      </p:sp>
      <p:sp>
        <p:nvSpPr>
          <p:cNvPr id="21" name="Shape 19"/>
          <p:cNvSpPr/>
          <p:nvPr/>
        </p:nvSpPr>
        <p:spPr>
          <a:xfrm>
            <a:off x="960120" y="4050792"/>
            <a:ext cx="462686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F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123944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次の行動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2267712" y="4123944"/>
            <a:ext cx="3310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90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10月16日までに概算見積書を送付</a:t>
            </a:r>
            <a:endParaRPr lang="en-US" sz="1490" dirty="0"/>
          </a:p>
        </p:txBody>
      </p:sp>
      <p:sp>
        <p:nvSpPr>
          <p:cNvPr id="24" name="Shape 22"/>
          <p:cNvSpPr/>
          <p:nvPr/>
        </p:nvSpPr>
        <p:spPr>
          <a:xfrm>
            <a:off x="960120" y="4608576"/>
            <a:ext cx="462686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68172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形式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2267712" y="4681728"/>
            <a:ext cx="3310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90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丁寧で簡潔なビジネスメール</a:t>
            </a:r>
            <a:endParaRPr lang="en-US" sz="1490" dirty="0"/>
          </a:p>
        </p:txBody>
      </p:sp>
      <p:sp>
        <p:nvSpPr>
          <p:cNvPr id="27" name="Shape 25"/>
          <p:cNvSpPr/>
          <p:nvPr/>
        </p:nvSpPr>
        <p:spPr>
          <a:xfrm>
            <a:off x="960120" y="5166360"/>
            <a:ext cx="462686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F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27064" y="1792224"/>
            <a:ext cx="5276088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00A5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AIの回答例</a:t>
            </a:r>
            <a:endParaRPr lang="en-US" sz="1730" dirty="0"/>
          </a:p>
        </p:txBody>
      </p:sp>
      <p:sp>
        <p:nvSpPr>
          <p:cNvPr id="30" name="Text 28"/>
          <p:cNvSpPr/>
          <p:nvPr/>
        </p:nvSpPr>
        <p:spPr>
          <a:xfrm>
            <a:off x="6537960" y="2404872"/>
            <a:ext cx="459028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9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件名：10月12日のお打ち合わせのお礼</a:t>
            </a:r>
            <a:endParaRPr lang="en-US" sz="1590" dirty="0"/>
          </a:p>
          <a:p>
            <a:pPr algn="l" indent="0" marL="0">
              <a:buNone/>
            </a:pPr>
            <a:endParaRPr lang="en-US" sz="1590" dirty="0"/>
          </a:p>
          <a:p>
            <a:pPr algn="l" indent="0" marL="0">
              <a:buNone/>
            </a:pPr>
            <a:r>
              <a:rPr lang="en-US" sz="159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A商事株式会社</a:t>
            </a:r>
            <a:endParaRPr lang="en-US" sz="1590" dirty="0"/>
          </a:p>
          <a:p>
            <a:pPr algn="l" indent="0" marL="0">
              <a:buNone/>
            </a:pPr>
            <a:r>
              <a:rPr lang="en-US" sz="159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 佐藤様</a:t>
            </a:r>
            <a:endParaRPr lang="en-US" sz="1590" dirty="0"/>
          </a:p>
          <a:p>
            <a:pPr algn="l" indent="0" marL="0">
              <a:buNone/>
            </a:pPr>
            <a:endParaRPr lang="en-US" sz="1590" dirty="0"/>
          </a:p>
          <a:p>
            <a:pPr algn="l" indent="0" marL="0">
              <a:buNone/>
            </a:pPr>
            <a:r>
              <a:rPr lang="en-US" sz="159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10月12日は、新サービス導入について</a:t>
            </a:r>
            <a:endParaRPr lang="en-US" sz="1590" dirty="0"/>
          </a:p>
          <a:p>
            <a:pPr algn="l" indent="0" marL="0">
              <a:buNone/>
            </a:pPr>
            <a:r>
              <a:rPr lang="en-US" sz="159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お時間をいただきありがとうございました。</a:t>
            </a:r>
            <a:endParaRPr lang="en-US" sz="1590" dirty="0"/>
          </a:p>
          <a:p>
            <a:pPr algn="l" indent="0" marL="0">
              <a:buNone/>
            </a:pPr>
            <a:r>
              <a:rPr lang="en-US" sz="159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概算見積書は10月16日までに</a:t>
            </a:r>
            <a:endParaRPr lang="en-US" sz="1590" dirty="0"/>
          </a:p>
          <a:p>
            <a:pPr algn="l" indent="0" marL="0">
              <a:buNone/>
            </a:pPr>
            <a:r>
              <a:rPr lang="en-US" sz="159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お送りいたします。</a:t>
            </a:r>
            <a:endParaRPr lang="en-US" sz="1590" dirty="0"/>
          </a:p>
          <a:p>
            <a:pPr algn="l" indent="0" marL="0">
              <a:buNone/>
            </a:pPr>
            <a:endParaRPr lang="en-US" sz="1590" dirty="0"/>
          </a:p>
          <a:p>
            <a:pPr algn="l" indent="0" marL="0">
              <a:buNone/>
            </a:pPr>
            <a:r>
              <a:rPr lang="en-US" sz="159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引き続きよろしくお願いいたします。</a:t>
            </a:r>
            <a:endParaRPr lang="en-US" sz="1590" dirty="0"/>
          </a:p>
        </p:txBody>
      </p:sp>
      <p:sp>
        <p:nvSpPr>
          <p:cNvPr id="31" name="Shape 29"/>
          <p:cNvSpPr/>
          <p:nvPr/>
        </p:nvSpPr>
        <p:spPr>
          <a:xfrm>
            <a:off x="685800" y="6117336"/>
            <a:ext cx="10817352" cy="301752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6208776"/>
            <a:ext cx="10451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85B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コツ：記載されていない事実や約束は追加しない、と伝えることもできます。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02  /  やってみる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実践！ 社内向けのお知らせを作ろう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ここからは、皆さん自身でChatGPTを操作します。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" y="1965960"/>
            <a:ext cx="526694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286000"/>
            <a:ext cx="621792" cy="621792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459736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709928" y="2203704"/>
            <a:ext cx="4023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4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社内バーベキュー大会</a:t>
            </a:r>
            <a:endParaRPr lang="en-US" sz="1940" dirty="0"/>
          </a:p>
        </p:txBody>
      </p:sp>
      <p:sp>
        <p:nvSpPr>
          <p:cNvPr id="15" name="Text 13"/>
          <p:cNvSpPr/>
          <p:nvPr/>
        </p:nvSpPr>
        <p:spPr>
          <a:xfrm>
            <a:off x="1709928" y="27432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日時・場所・参加方法のお知らせ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26694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286000"/>
            <a:ext cx="621792" cy="621792"/>
          </a:xfrm>
          <a:prstGeom prst="ellipse">
            <a:avLst/>
          </a:prstGeom>
          <a:solidFill>
            <a:srgbClr val="E7F8F5"/>
          </a:solidFill>
          <a:ln w="12700">
            <a:solidFill>
              <a:srgbClr val="E7F8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459736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8A7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223760" y="2203704"/>
            <a:ext cx="4023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4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社内の部活動</a:t>
            </a:r>
            <a:endParaRPr lang="en-US" sz="1940" dirty="0"/>
          </a:p>
        </p:txBody>
      </p:sp>
      <p:sp>
        <p:nvSpPr>
          <p:cNvPr id="20" name="Text 18"/>
          <p:cNvSpPr/>
          <p:nvPr/>
        </p:nvSpPr>
        <p:spPr>
          <a:xfrm>
            <a:off x="7223760" y="27432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活動日時や参加メンバー募集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4088" y="3529584"/>
            <a:ext cx="526694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3849624"/>
            <a:ext cx="621792" cy="621792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02336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709928" y="3767328"/>
            <a:ext cx="4023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4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委員会の開催</a:t>
            </a:r>
            <a:endParaRPr lang="en-US" sz="1940" dirty="0"/>
          </a:p>
        </p:txBody>
      </p:sp>
      <p:sp>
        <p:nvSpPr>
          <p:cNvPr id="25" name="Text 23"/>
          <p:cNvSpPr/>
          <p:nvPr/>
        </p:nvSpPr>
        <p:spPr>
          <a:xfrm>
            <a:off x="1709928" y="43068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議題・出欠回答の案内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0" y="3529584"/>
            <a:ext cx="526694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3849624"/>
            <a:ext cx="621792" cy="621792"/>
          </a:xfrm>
          <a:prstGeom prst="ellipse">
            <a:avLst/>
          </a:prstGeom>
          <a:solidFill>
            <a:srgbClr val="E7F8F5"/>
          </a:solidFill>
          <a:ln w="12700">
            <a:solidFill>
              <a:srgbClr val="E7F8F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02336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8A7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7223760" y="3767328"/>
            <a:ext cx="4023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4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社内イベント</a:t>
            </a:r>
            <a:endParaRPr lang="en-US" sz="1940" dirty="0"/>
          </a:p>
        </p:txBody>
      </p:sp>
      <p:sp>
        <p:nvSpPr>
          <p:cNvPr id="30" name="Text 28"/>
          <p:cNvSpPr/>
          <p:nvPr/>
        </p:nvSpPr>
        <p:spPr>
          <a:xfrm>
            <a:off x="7223760" y="43068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交流会・勉強会などのお知らせ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" y="5349240"/>
            <a:ext cx="10808208" cy="621792"/>
          </a:xfrm>
          <a:prstGeom prst="roundRect">
            <a:avLst/>
          </a:prstGeom>
          <a:solidFill>
            <a:srgbClr val="12273B"/>
          </a:solidFill>
          <a:ln w="12700">
            <a:solidFill>
              <a:srgbClr val="12273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440680"/>
            <a:ext cx="10442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この4つ以外でもOK。仕事で使えそうなお知らせを1つ選んでください。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02  /  やってみる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まずは、自分の言葉でお願いしてみよう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完璧な指示でなくても構いません。まず入力してみましょう。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47088"/>
            <a:ext cx="10799064" cy="1362456"/>
          </a:xfrm>
          <a:prstGeom prst="roundRect">
            <a:avLst/>
          </a:prstGeom>
          <a:solidFill>
            <a:srgbClr val="12273B"/>
          </a:solidFill>
          <a:ln w="12700">
            <a:solidFill>
              <a:srgbClr val="1227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020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E0D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入力してみよう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96" y="2542032"/>
            <a:ext cx="9976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1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「社内でバーベキュー大会を開催します。社員向けのお知らせを作ってください。」</a:t>
            </a:r>
            <a:endParaRPr lang="en-US" sz="2010" dirty="0"/>
          </a:p>
        </p:txBody>
      </p:sp>
      <p:sp>
        <p:nvSpPr>
          <p:cNvPr id="14" name="Text 12"/>
          <p:cNvSpPr/>
          <p:nvPr/>
        </p:nvSpPr>
        <p:spPr>
          <a:xfrm>
            <a:off x="768096" y="362102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AIから文章が返ってきたら、次の3点を確認してください。</a:t>
            </a:r>
            <a:endParaRPr lang="en-US" sz="2050" dirty="0"/>
          </a:p>
        </p:txBody>
      </p:sp>
      <p:sp>
        <p:nvSpPr>
          <p:cNvPr id="15" name="Shape 13"/>
          <p:cNvSpPr/>
          <p:nvPr/>
        </p:nvSpPr>
        <p:spPr>
          <a:xfrm>
            <a:off x="758952" y="4315968"/>
            <a:ext cx="3483864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3542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600200" y="4489704"/>
            <a:ext cx="2441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思っていた内容？</a:t>
            </a:r>
            <a:endParaRPr lang="en-US" sz="1710" dirty="0"/>
          </a:p>
        </p:txBody>
      </p:sp>
      <p:sp>
        <p:nvSpPr>
          <p:cNvPr id="18" name="Shape 16"/>
          <p:cNvSpPr/>
          <p:nvPr/>
        </p:nvSpPr>
        <p:spPr>
          <a:xfrm>
            <a:off x="4471416" y="4315968"/>
            <a:ext cx="3483864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53542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5312664" y="4489704"/>
            <a:ext cx="2441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必要な情報はある？</a:t>
            </a:r>
            <a:endParaRPr lang="en-US" sz="1710" dirty="0"/>
          </a:p>
        </p:txBody>
      </p:sp>
      <p:sp>
        <p:nvSpPr>
          <p:cNvPr id="21" name="Shape 19"/>
          <p:cNvSpPr/>
          <p:nvPr/>
        </p:nvSpPr>
        <p:spPr>
          <a:xfrm>
            <a:off x="8183880" y="4315968"/>
            <a:ext cx="3483864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5048" y="453542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92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025128" y="4489704"/>
            <a:ext cx="2441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勝手な追加はない？</a:t>
            </a:r>
            <a:endParaRPr lang="en-US" sz="1710" dirty="0"/>
          </a:p>
        </p:txBody>
      </p:sp>
      <p:sp>
        <p:nvSpPr>
          <p:cNvPr id="24" name="Text 22"/>
          <p:cNvSpPr/>
          <p:nvPr/>
        </p:nvSpPr>
        <p:spPr>
          <a:xfrm>
            <a:off x="786384" y="5934456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D85B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架空の日時・場所をAIが補っていたら、未定と明記するなど修正が必要です。</a:t>
            </a:r>
            <a:endParaRPr lang="en-US" sz="13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02  /  やってみる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何を指示すればよいか分からない？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そんなときこそ、AIに「質問して」と頼んでみましょう。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" y="1847088"/>
            <a:ext cx="10771632" cy="119786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E7F8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984248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68A7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あなたからAIへ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960120" y="2331720"/>
            <a:ext cx="9930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「お知らせの作成に必要なことを、私に順番に質問してください」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40664" y="33192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すると、例えばこんな会話が始まります。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50976" y="3840480"/>
            <a:ext cx="809244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39044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8A7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286000" y="3895344"/>
            <a:ext cx="6144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開催日はいつですか？</a:t>
            </a:r>
            <a:endParaRPr lang="en-US" sz="1530" dirty="0"/>
          </a:p>
        </p:txBody>
      </p:sp>
      <p:sp>
        <p:nvSpPr>
          <p:cNvPr id="18" name="Shape 16"/>
          <p:cNvSpPr/>
          <p:nvPr/>
        </p:nvSpPr>
        <p:spPr>
          <a:xfrm>
            <a:off x="3136392" y="4416552"/>
            <a:ext cx="7315200" cy="448056"/>
          </a:xfrm>
          <a:prstGeom prst="roundRect">
            <a:avLst/>
          </a:prstGeom>
          <a:solidFill>
            <a:srgbClr val="EAF4FE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448056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あなた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535424" y="4471416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11月の土曜日を予定しています。</a:t>
            </a:r>
            <a:endParaRPr lang="en-US" sz="1530" dirty="0"/>
          </a:p>
        </p:txBody>
      </p:sp>
      <p:sp>
        <p:nvSpPr>
          <p:cNvPr id="21" name="Shape 19"/>
          <p:cNvSpPr/>
          <p:nvPr/>
        </p:nvSpPr>
        <p:spPr>
          <a:xfrm>
            <a:off x="950976" y="4992624"/>
            <a:ext cx="809244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7864" y="505663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8A7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286000" y="5047488"/>
            <a:ext cx="6144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場所や参加費は決まっていますか？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9144000" y="3931920"/>
            <a:ext cx="2157984" cy="1207008"/>
          </a:xfrm>
          <a:prstGeom prst="roundRect">
            <a:avLst/>
          </a:prstGeom>
          <a:solidFill>
            <a:srgbClr val="12273B"/>
          </a:solidFill>
          <a:ln w="12700">
            <a:solidFill>
              <a:srgbClr val="1227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417880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AIは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相談相手にもなる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2688" y="586130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答えられる範囲で回答し、不明なことは「未定」と伝えましょう。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02  /  やってみる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一度で完成させなくて大丈夫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気になるところは、会話を続けて直してもらいましょう。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856232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039112"/>
            <a:ext cx="365760" cy="365760"/>
          </a:xfrm>
          <a:prstGeom prst="ellipse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6521" y="2112264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44752" y="2002536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「文章をもう少し親しみやすくして」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217920" y="1856232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039112"/>
            <a:ext cx="365760" cy="365760"/>
          </a:xfrm>
          <a:prstGeom prst="ellipse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1209" y="2112264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49440" y="2002536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「長さを半分くらいにして」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13232" y="2788920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2971800"/>
            <a:ext cx="365760" cy="365760"/>
          </a:xfrm>
          <a:prstGeom prst="ellipse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521" y="304495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44752" y="2935224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「重要な情報を箇条書きにして」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6217920" y="2788920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971800"/>
            <a:ext cx="365760" cy="365760"/>
          </a:xfrm>
          <a:prstGeom prst="ellipse">
            <a:avLst/>
          </a:prstGeom>
          <a:solidFill>
            <a:srgbClr val="00A598"/>
          </a:solidFill>
          <a:ln w="12700">
            <a:solidFill>
              <a:srgbClr val="00A59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1209" y="304495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49440" y="2935224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「まだ足りない情報があれば教えて」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31520" y="4069080"/>
            <a:ext cx="10744200" cy="1636776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" y="427939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5B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使う前の最終チェック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33272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日時・場所・金額・期限は正しい？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6035040" y="480974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82F4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AIが勝手に加えた事実はない？</a:t>
            </a:r>
            <a:endParaRPr lang="en-US" sz="1540" dirty="0"/>
          </a:p>
        </p:txBody>
      </p:sp>
      <p:sp>
        <p:nvSpPr>
          <p:cNvPr id="31" name="Text 29"/>
          <p:cNvSpPr/>
          <p:nvPr/>
        </p:nvSpPr>
        <p:spPr>
          <a:xfrm>
            <a:off x="923544" y="5952744"/>
            <a:ext cx="10451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個人情報・機密情報は、会社の利用ルールに従って扱ってください。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03  /  広げる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文章の次は、画像にも挑戦できる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文字がおかしい場合は、PowerPointを組み合わせる方法があります。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2376" y="1828800"/>
            <a:ext cx="5193792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4773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AIに背景イラストを作ってもらう</a:t>
            </a:r>
            <a:endParaRPr lang="en-US" sz="1600" dirty="0"/>
          </a:p>
        </p:txBody>
      </p:sp>
      <p:pic>
        <p:nvPicPr>
          <p:cNvPr id="13" name="Image 0" descr="/mnt/data/wide_cheerful_clean_flat_illustration_style_ou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4754880" cy="302666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72784" y="1828800"/>
            <a:ext cx="5193792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19842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PowerPointで文字を重ねる</a:t>
            </a:r>
            <a:endParaRPr lang="en-US" sz="1600" dirty="0"/>
          </a:p>
        </p:txBody>
      </p:sp>
      <p:pic>
        <p:nvPicPr>
          <p:cNvPr id="16" name="Image 1" descr="/mnt/data/wide_cheerful_clean_flat_illustration_style_ou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496312"/>
            <a:ext cx="4773168" cy="300837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876288" y="2852928"/>
            <a:ext cx="3968496" cy="813816"/>
          </a:xfrm>
          <a:prstGeom prst="roundRect">
            <a:avLst/>
          </a:prstGeom>
          <a:solidFill>
            <a:srgbClr val="12273B"/>
          </a:solidFill>
          <a:ln w="12700">
            <a:solidFill>
              <a:srgbClr val="12273B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022592" y="305409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社内BBQ大会</a:t>
            </a:r>
            <a:endParaRPr lang="en-US" sz="2550" dirty="0"/>
          </a:p>
        </p:txBody>
      </p:sp>
      <p:sp>
        <p:nvSpPr>
          <p:cNvPr id="19" name="Shape 15"/>
          <p:cNvSpPr/>
          <p:nvPr/>
        </p:nvSpPr>
        <p:spPr>
          <a:xfrm>
            <a:off x="7123176" y="3968496"/>
            <a:ext cx="3483864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0" y="4087368"/>
            <a:ext cx="3118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開催日時・会場は決定後に案内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78992" y="5916168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生成画像（サンプル）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56248" y="5916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文字はPowerPointのテキストボックス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03  /  広げる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" y="7132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ほかのAIやアプリと組み合わせると？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サービスの特徴を知ると、仕事に合った使い方が見つかります。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151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はじめての生成AI  ｜  研修教材サンプル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686800" y="65151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2分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1064240" y="65059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" y="1792224"/>
            <a:ext cx="5285232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002536"/>
            <a:ext cx="118872" cy="512064"/>
          </a:xfrm>
          <a:prstGeom prst="roundRect">
            <a:avLst/>
          </a:prstGeom>
          <a:solidFill>
            <a:srgbClr val="1477E6"/>
          </a:solidFill>
          <a:ln w="12700">
            <a:solidFill>
              <a:srgbClr val="1477E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1956816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1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ChatGPT</a:t>
            </a:r>
            <a:endParaRPr lang="en-US" sz="2110" dirty="0"/>
          </a:p>
        </p:txBody>
      </p:sp>
      <p:sp>
        <p:nvSpPr>
          <p:cNvPr id="14" name="Text 12"/>
          <p:cNvSpPr/>
          <p:nvPr/>
        </p:nvSpPr>
        <p:spPr>
          <a:xfrm>
            <a:off x="1197864" y="254203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GoogleドライブやSlackなどと連携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1179576" y="2990088"/>
            <a:ext cx="4562856" cy="356616"/>
          </a:xfrm>
          <a:prstGeom prst="roundRect">
            <a:avLst/>
          </a:prstGeom>
          <a:solidFill>
            <a:srgbClr val="EAF4FE"/>
          </a:solidFill>
          <a:ln w="12700">
            <a:solidFill>
              <a:srgbClr val="EAF4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03580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477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「社内資料を探して要約して」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6227064" y="1792224"/>
            <a:ext cx="5285232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002536"/>
            <a:ext cx="118872" cy="512064"/>
          </a:xfrm>
          <a:prstGeom prst="roundRect">
            <a:avLst/>
          </a:prstGeom>
          <a:solidFill>
            <a:srgbClr val="00A598"/>
          </a:solidFill>
          <a:ln w="12700">
            <a:solidFill>
              <a:srgbClr val="00A59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956816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10" b="1" dirty="0">
                <a:solidFill>
                  <a:srgbClr val="00A5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</a:t>
            </a:r>
            <a:endParaRPr lang="en-US" sz="2110" dirty="0"/>
          </a:p>
        </p:txBody>
      </p:sp>
      <p:sp>
        <p:nvSpPr>
          <p:cNvPr id="20" name="Text 18"/>
          <p:cNvSpPr/>
          <p:nvPr/>
        </p:nvSpPr>
        <p:spPr>
          <a:xfrm>
            <a:off x="6720840" y="254203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Artifactsで簡単なミニアプリを作成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6702552" y="2990088"/>
            <a:ext cx="4562856" cy="356616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E7F8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303580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0A5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「旅費計算ツールを作って」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704088" y="3712464"/>
            <a:ext cx="5285232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3922776"/>
            <a:ext cx="118872" cy="512064"/>
          </a:xfrm>
          <a:prstGeom prst="roundRect">
            <a:avLst/>
          </a:prstGeom>
          <a:solidFill>
            <a:srgbClr val="F69254"/>
          </a:solidFill>
          <a:ln w="12700">
            <a:solidFill>
              <a:srgbClr val="F6925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3877056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10" b="1" dirty="0">
                <a:solidFill>
                  <a:srgbClr val="F692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in Chrome</a:t>
            </a:r>
            <a:endParaRPr lang="en-US" sz="2110" dirty="0"/>
          </a:p>
        </p:txBody>
      </p:sp>
      <p:sp>
        <p:nvSpPr>
          <p:cNvPr id="26" name="Text 24"/>
          <p:cNvSpPr/>
          <p:nvPr/>
        </p:nvSpPr>
        <p:spPr>
          <a:xfrm>
            <a:off x="1197864" y="446227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Webページを読み、クリックや入力を支援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1179576" y="4910328"/>
            <a:ext cx="4562856" cy="356616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4168" y="495604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692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「このページの情報を整理して」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6227064" y="3712464"/>
            <a:ext cx="5285232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3922776"/>
            <a:ext cx="118872" cy="512064"/>
          </a:xfrm>
          <a:prstGeom prst="roundRect">
            <a:avLst/>
          </a:prstGeom>
          <a:solidFill>
            <a:srgbClr val="7459C8"/>
          </a:solidFill>
          <a:ln w="12700">
            <a:solidFill>
              <a:srgbClr val="7459C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3877056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10" b="1" dirty="0">
                <a:solidFill>
                  <a:srgbClr val="7459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Gemini</a:t>
            </a:r>
            <a:endParaRPr lang="en-US" sz="2110" dirty="0"/>
          </a:p>
        </p:txBody>
      </p:sp>
      <p:sp>
        <p:nvSpPr>
          <p:cNvPr id="32" name="Text 30"/>
          <p:cNvSpPr/>
          <p:nvPr/>
        </p:nvSpPr>
        <p:spPr>
          <a:xfrm>
            <a:off x="6720840" y="446227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7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GmailやGoogleドライブと連携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6702552" y="4910328"/>
            <a:ext cx="4562856" cy="356616"/>
          </a:xfrm>
          <a:prstGeom prst="roundRect">
            <a:avLst/>
          </a:prstGeom>
          <a:solidFill>
            <a:srgbClr val="F2EDFC"/>
          </a:solidFill>
          <a:ln w="12700">
            <a:solidFill>
              <a:srgbClr val="F2EDF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495604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7459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「最近のメールを要約して」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768096" y="5952744"/>
            <a:ext cx="10826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4778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利用できる機能はプラン・設定・企業の利用ルールにより異なります。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73B"/>
          </a:solidFill>
          <a:ln w="12700">
            <a:solidFill>
              <a:srgbClr val="1227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A598"/>
          </a:solidFill>
          <a:ln w="12700">
            <a:solidFill>
              <a:srgbClr val="00A59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4663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7DCC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PART 03  /  まとめ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6384" y="1225296"/>
            <a:ext cx="10643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「これって、AIでできる？」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795528" y="19385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9E1F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そう思ったら、まずAIに相談してみよう。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95528" y="3218688"/>
            <a:ext cx="3584448" cy="1335024"/>
          </a:xfrm>
          <a:prstGeom prst="roundRect">
            <a:avLst/>
          </a:prstGeom>
          <a:solidFill>
            <a:srgbClr val="263E54"/>
          </a:solidFill>
          <a:ln w="12700">
            <a:solidFill>
              <a:srgbClr val="263E5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419856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0D8C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助成金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「公募要領をわかりやすく要約して」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4645152" y="3218688"/>
            <a:ext cx="3584448" cy="1335024"/>
          </a:xfrm>
          <a:prstGeom prst="roundRect">
            <a:avLst/>
          </a:prstGeom>
          <a:solidFill>
            <a:srgbClr val="263E54"/>
          </a:solidFill>
          <a:ln w="12700">
            <a:solidFill>
              <a:srgbClr val="263E5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3419856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0D8C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議事録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55464" y="38862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「AIで議事録を作る方法を教えて」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8494776" y="3218688"/>
            <a:ext cx="3584448" cy="1335024"/>
          </a:xfrm>
          <a:prstGeom prst="roundRect">
            <a:avLst/>
          </a:prstGeom>
          <a:solidFill>
            <a:srgbClr val="263E54"/>
          </a:solidFill>
          <a:ln w="12700">
            <a:solidFill>
              <a:srgbClr val="263E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05088" y="3419856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0D8C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05088" y="38862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「この集計作業を効率化したい」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795528" y="5138928"/>
            <a:ext cx="10680192" cy="667512"/>
          </a:xfrm>
          <a:prstGeom prst="roundRect">
            <a:avLst/>
          </a:prstGeom>
          <a:solidFill>
            <a:srgbClr val="00A598"/>
          </a:solidFill>
          <a:ln w="12700">
            <a:solidFill>
              <a:srgbClr val="00A59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5266944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今日の一歩：自分の仕事で、AIにひとつ質問してみる。</a:t>
            </a:r>
            <a:endParaRPr lang="en-US" sz="2170" dirty="0"/>
          </a:p>
        </p:txBody>
      </p:sp>
      <p:sp>
        <p:nvSpPr>
          <p:cNvPr id="18" name="Text 16"/>
          <p:cNvSpPr/>
          <p:nvPr/>
        </p:nvSpPr>
        <p:spPr>
          <a:xfrm>
            <a:off x="813816" y="6089904"/>
            <a:ext cx="10634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B6CA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回答の内容は、原文・事実・社内ルールと照らして確認してください。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04672" y="6492240"/>
            <a:ext cx="10058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8BA6B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制作：中平 隆史　／　研修教材サンプル（架空企業向け想定）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個人制作（研修教材サンプル）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はじめての生成AI｜AIと相談しながら仕事をラクにする</dc:title>
  <dc:subject>生成AI初心者向け30分研修教材（ポートフォリオ用サンプル）</dc:subject>
  <dc:creator>中平 隆史</dc:creator>
  <cp:lastModifiedBy>中平 隆史</cp:lastModifiedBy>
  <cp:revision>1</cp:revision>
  <dcterms:created xsi:type="dcterms:W3CDTF">2026-10-13T12:23:11Z</dcterms:created>
  <dcterms:modified xsi:type="dcterms:W3CDTF">2026-10-13T12:23:11Z</dcterms:modified>
</cp:coreProperties>
</file>