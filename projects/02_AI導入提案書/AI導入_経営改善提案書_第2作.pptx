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143000"/>
            <a:ext cx="576072" cy="73152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10607040" cy="1874519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3700" b="1">
                <a:solidFill>
                  <a:srgbClr val="FFFFFF"/>
                </a:solidFill>
                <a:latin typeface="Noto Sans CJK JP"/>
              </a:defRPr>
            </a:pPr>
            <a:r>
              <a:t>AI導入による</a:t>
            </a:r>
          </a:p>
          <a:p>
            <a:pPr>
              <a:spcAft>
                <a:spcPts val="400"/>
              </a:spcAft>
              <a:defRPr sz="3700" b="1">
                <a:solidFill>
                  <a:srgbClr val="FFFFFF"/>
                </a:solidFill>
                <a:latin typeface="Noto Sans CJK JP"/>
              </a:defRPr>
            </a:pPr>
            <a:r>
              <a:t>収益構造改革の提案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40480"/>
            <a:ext cx="1046988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D3E5F0"/>
                </a:solidFill>
                <a:latin typeface="Noto Sans CJK JP"/>
              </a:defRPr>
            </a:pPr>
            <a:r>
              <a:t>経営データの分析から、採算可視化・業務標準化・意思決定支援へ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760720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2CDDF"/>
                </a:solidFill>
                <a:latin typeface="Noto Sans CJK JP"/>
              </a:defRPr>
            </a:pPr>
            <a:r>
              <a:t>企業経営者向け提案書 / AI活用ポートフォリオ 第2作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236208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Noto Sans CJK JP"/>
              </a:defRPr>
            </a:pPr>
            <a: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提案の結論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分析から見える優先順位は「売上拡大」より先に「利益を生む仕組みの再設計」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45920"/>
            <a:ext cx="2560320" cy="1179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73936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86FAD"/>
                </a:solidFill>
                <a:latin typeface="Noto Sans CJK JP"/>
              </a:defRPr>
            </a:pPr>
            <a:r>
              <a:t>6.31億円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386584"/>
            <a:ext cx="2240279" cy="265176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27181"/>
                </a:solidFill>
                <a:latin typeface="Noto Sans CJK JP"/>
              </a:defRPr>
            </a:pPr>
            <a:r>
              <a:t>年間売上高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45920"/>
            <a:ext cx="2560320" cy="1179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773936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DC873C"/>
                </a:solidFill>
                <a:latin typeface="Noto Sans CJK JP"/>
              </a:defRPr>
            </a:pPr>
            <a:r>
              <a:t>4.72%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386584"/>
            <a:ext cx="2240279" cy="265176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27181"/>
                </a:solidFill>
                <a:latin typeface="Noto Sans CJK JP"/>
              </a:defRPr>
            </a:pPr>
            <a:r>
              <a:t>全社利益率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645920"/>
            <a:ext cx="2560320" cy="1179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1773936"/>
            <a:ext cx="2249424" cy="50292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DC873C"/>
                </a:solidFill>
                <a:latin typeface="Noto Sans CJK JP"/>
              </a:defRPr>
            </a:pPr>
            <a:r>
              <a:t>89.0%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386584"/>
            <a:ext cx="2240279" cy="265176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27181"/>
                </a:solidFill>
                <a:latin typeface="Noto Sans CJK JP"/>
              </a:defRPr>
            </a:pPr>
            <a:r>
              <a:t>売上予算達成率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645920"/>
            <a:ext cx="2697480" cy="1179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773936"/>
            <a:ext cx="2386584" cy="50292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86FAD"/>
                </a:solidFill>
                <a:latin typeface="Noto Sans CJK JP"/>
              </a:defRPr>
            </a:pPr>
            <a:r>
              <a:t>2,976万円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386584"/>
            <a:ext cx="2377440" cy="265176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27181"/>
                </a:solidFill>
                <a:latin typeface="Noto Sans CJK JP"/>
              </a:defRPr>
            </a:pPr>
            <a:r>
              <a:t>年間利益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227832"/>
            <a:ext cx="350215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227832"/>
            <a:ext cx="68580" cy="2331720"/>
          </a:xfrm>
          <a:prstGeom prst="rect">
            <a:avLst/>
          </a:prstGeom>
          <a:solidFill>
            <a:srgbClr val="18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01568"/>
            <a:ext cx="3044952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01  採算の見える化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41063"/>
            <a:ext cx="3044952" cy="1554479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案件別の工数・単価・原価を把握し、低収益の発生箇所を特定。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227832"/>
            <a:ext cx="350215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227832"/>
            <a:ext cx="68580" cy="2331720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401568"/>
            <a:ext cx="3044952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02  定型業務の標準化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941063"/>
            <a:ext cx="3044952" cy="1554479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提案・報告・転記などをAIで支援し、時間を顧客価値へ再配分。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227832"/>
            <a:ext cx="350215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227832"/>
            <a:ext cx="68580" cy="2331720"/>
          </a:xfrm>
          <a:prstGeom prst="rect">
            <a:avLst/>
          </a:prstGeom>
          <a:solidFill>
            <a:srgbClr val="1A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401568"/>
            <a:ext cx="3044952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03  継続的な経営判断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941063"/>
            <a:ext cx="3044952" cy="1554479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予実差異と重要KPIを定例で可視化し、改善を回す。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事業部別の収益構造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売上規模と利益貢献が一致していない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91640"/>
            <a:ext cx="109545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97280" cy="420624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1243E"/>
                </a:solidFill>
                <a:latin typeface="Noto Sans CJK JP"/>
              </a:defRPr>
            </a:pPr>
            <a:r>
              <a:t>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1874520"/>
            <a:ext cx="3246120" cy="3657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3145"/>
                </a:solidFill>
                <a:latin typeface="Noto Sans CJK JP"/>
              </a:defRPr>
            </a:pPr>
            <a:r>
              <a:t>売上  286.3 百万円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1874520"/>
            <a:ext cx="3337560" cy="3657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3145"/>
                </a:solidFill>
                <a:latin typeface="Noto Sans CJK JP"/>
              </a:defRPr>
            </a:pPr>
            <a:r>
              <a:t>利益  0.79 百万円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837944"/>
            <a:ext cx="1874519" cy="48463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C14F4F"/>
                </a:solidFill>
                <a:latin typeface="Noto Sans CJK JP"/>
              </a:defRPr>
            </a:pPr>
            <a:r>
              <a:t>0.27%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054096"/>
            <a:ext cx="109545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82696"/>
            <a:ext cx="1097280" cy="420624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1243E"/>
                </a:solidFill>
                <a:latin typeface="Noto Sans CJK JP"/>
              </a:defRPr>
            </a:pPr>
            <a:r>
              <a:t>BPO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236976"/>
            <a:ext cx="3246120" cy="3657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3145"/>
                </a:solidFill>
                <a:latin typeface="Noto Sans CJK JP"/>
              </a:defRPr>
            </a:pPr>
            <a:r>
              <a:t>売上  239.0 百万円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3236976"/>
            <a:ext cx="3337560" cy="3657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3145"/>
                </a:solidFill>
                <a:latin typeface="Noto Sans CJK JP"/>
              </a:defRPr>
            </a:pPr>
            <a:r>
              <a:t>利益  28.62 百万円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200400"/>
            <a:ext cx="1874519" cy="48463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1A8E72"/>
                </a:solidFill>
                <a:latin typeface="Noto Sans CJK JP"/>
              </a:defRPr>
            </a:pPr>
            <a:r>
              <a:t>11.98%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416552"/>
            <a:ext cx="109545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45152"/>
            <a:ext cx="1097280" cy="420624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1243E"/>
                </a:solidFill>
                <a:latin typeface="Noto Sans CJK JP"/>
              </a:defRPr>
            </a:pPr>
            <a:r>
              <a:t>TRN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9696" y="4599432"/>
            <a:ext cx="3246120" cy="3657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3145"/>
                </a:solidFill>
                <a:latin typeface="Noto Sans CJK JP"/>
              </a:defRPr>
            </a:pPr>
            <a:r>
              <a:t>売上  105.6 百万円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4599432"/>
            <a:ext cx="3337560" cy="3657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F3145"/>
                </a:solidFill>
                <a:latin typeface="Noto Sans CJK JP"/>
              </a:defRPr>
            </a:pPr>
            <a:r>
              <a:t>利益  0.36 百万円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562856"/>
            <a:ext cx="1874519" cy="48463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C14F4F"/>
                </a:solidFill>
                <a:latin typeface="Noto Sans CJK JP"/>
              </a:defRPr>
            </a:pPr>
            <a:r>
              <a:t>0.34%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07608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1243E"/>
                </a:solidFill>
                <a:latin typeface="Noto Sans CJK JP"/>
              </a:defRPr>
            </a:pPr>
            <a:r>
              <a:t>示唆：BPO部門が全社利益の約96%を創出。IT・TRN部門は改善余地の検証が必要。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課題仮説と検証方法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データだけでは原因は断定できない。だから最初に確かめる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64208"/>
            <a:ext cx="349300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64208"/>
            <a:ext cx="68580" cy="3200400"/>
          </a:xfrm>
          <a:prstGeom prst="rect">
            <a:avLst/>
          </a:prstGeom>
          <a:solidFill>
            <a:srgbClr val="DC8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37944"/>
            <a:ext cx="3035808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仮説 A｜案件採算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77440"/>
            <a:ext cx="3035808" cy="24231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採算の低い契約や想定外工数が利益を圧迫している可能性。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検証：案件別売上・工数・外注費・粗利。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664208"/>
            <a:ext cx="349300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664208"/>
            <a:ext cx="68580" cy="3200400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837944"/>
            <a:ext cx="3035808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仮説 B｜作業負担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377440"/>
            <a:ext cx="3035808" cy="24231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見積作成、報告書、転記などが高単価人材の時間を占める可能性。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検証：業務棚卸・時間計測。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64208"/>
            <a:ext cx="3493008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64208"/>
            <a:ext cx="68580" cy="3200400"/>
          </a:xfrm>
          <a:prstGeom prst="rect">
            <a:avLst/>
          </a:prstGeom>
          <a:solidFill>
            <a:srgbClr val="1A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837944"/>
            <a:ext cx="3035808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仮説 C｜管理速度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377440"/>
            <a:ext cx="3035808" cy="24231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予実差異への気づきが遅く、改善着手が後手になる可能性。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検証：月次締め・会議・意思決定の所要日数。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5349240"/>
            <a:ext cx="10835640" cy="66751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各仮説は未検証。AI導入前の4週間で基準値を計測し、施策の継続可否を判断する。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AI導入の全体設計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既存の業務・データ基盤を活かした段階導入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00784"/>
            <a:ext cx="3566160" cy="3182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00784"/>
            <a:ext cx="68580" cy="3182112"/>
          </a:xfrm>
          <a:prstGeom prst="rect">
            <a:avLst/>
          </a:prstGeom>
          <a:solidFill>
            <a:srgbClr val="18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20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営業・案件管理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14016"/>
            <a:ext cx="3108960" cy="24048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・見積の下書き支援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・案件記録の要約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・工数・採算アラート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主管：IT / TRN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700784"/>
            <a:ext cx="3566160" cy="3182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700784"/>
            <a:ext cx="68580" cy="3182112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74520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バックオフィス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14016"/>
            <a:ext cx="3108960" cy="24048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・定型文書の素案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・議事録・報告の整理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・手順書の検索支援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主管：BPO / 管理部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700784"/>
            <a:ext cx="3566160" cy="3182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700784"/>
            <a:ext cx="68580" cy="3182112"/>
          </a:xfrm>
          <a:prstGeom prst="rect">
            <a:avLst/>
          </a:prstGeom>
          <a:solidFill>
            <a:srgbClr val="1A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874520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経営管理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414016"/>
            <a:ext cx="3108960" cy="24048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・予実差異の自動集計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・月次コメント草案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・重点案件の抽出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主管：経営企画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285232"/>
            <a:ext cx="10241280" cy="557784"/>
          </a:xfrm>
          <a:prstGeom prst="roundRect">
            <a:avLst/>
          </a:prstGeom>
          <a:solidFill>
            <a:srgbClr val="11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394960"/>
            <a:ext cx="9829800" cy="30175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Noto Sans CJK JP"/>
              </a:defRPr>
            </a:pPr>
            <a:r>
              <a:t>共通基盤：アクセス権限 / 個人情報保護 / 人によるレビュー / 効果測定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施策①｜案件別採算を見える化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最優先は利益率の低いIT・TRN部門。AIは「原因を探す補助」に使う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9344"/>
            <a:ext cx="5367528" cy="3355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09344"/>
            <a:ext cx="68580" cy="3355848"/>
          </a:xfrm>
          <a:prstGeom prst="rect">
            <a:avLst/>
          </a:prstGeom>
          <a:solidFill>
            <a:srgbClr val="18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4910328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現状 → 改善後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4910328" cy="257860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現状：売上・部門利益は分かるが、案件ごとの利益低下要因は不明。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改善後：案件別の実績工数と見積工数、外注費、粗利を一覧化。AIが差異の大きい案件を要約。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09344"/>
            <a:ext cx="5394960" cy="33558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09344"/>
            <a:ext cx="68580" cy="3355848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783080"/>
            <a:ext cx="4937760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現場での運用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322576"/>
            <a:ext cx="4937760" cy="257860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担当者が工数を記録 → データ集計 → AIが例外案件を説明 → 管理者が原因と対応策を判断。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AI単独で価格変更や人事評価は行わない。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04688"/>
            <a:ext cx="10424160" cy="420624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主要KPI：案件別粗利率 / 見積対実績工数差 / 赤字案件比率 / 再見積率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施策②｜文書作成・照会の生産性を改善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小さな反復業務から開始し、成果が確認できたものだけを拡張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682496"/>
            <a:ext cx="3456432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1682496"/>
            <a:ext cx="68580" cy="3246120"/>
          </a:xfrm>
          <a:prstGeom prst="rect">
            <a:avLst/>
          </a:prstGeom>
          <a:solidFill>
            <a:srgbClr val="18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856232"/>
            <a:ext cx="2999232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見積・提案の下書き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395728"/>
            <a:ext cx="2999232" cy="2468879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定型フォーマットと過去の承認済み例から草案生成。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KPI：作成時間 / 修正回数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682496"/>
            <a:ext cx="3456432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682496"/>
            <a:ext cx="68580" cy="3246120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56232"/>
            <a:ext cx="2999232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議事録・日報の整理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95728"/>
            <a:ext cx="2999232" cy="2468879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音声・メモを議事録に整形し、担当・期限を抽出。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KPI：記録時間 / 抜け漏れ数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682496"/>
            <a:ext cx="3456432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682496"/>
            <a:ext cx="68580" cy="3246120"/>
          </a:xfrm>
          <a:prstGeom prst="rect">
            <a:avLst/>
          </a:prstGeom>
          <a:solidFill>
            <a:srgbClr val="1A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856232"/>
            <a:ext cx="2999232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手順書検索の支援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395728"/>
            <a:ext cx="2999232" cy="2468879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承認済み社内文書だけを検索対象にし、根拠付きで候補回答。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KPI：探索時間 / 正答率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431536"/>
            <a:ext cx="10634472" cy="6858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243E"/>
                </a:solidFill>
                <a:latin typeface="Noto Sans CJK JP"/>
              </a:defRPr>
            </a:pPr>
            <a:r>
              <a:t>導入条件：利用データの分類、機密情報の取扱い、出力物の承認責任を先に定義する。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施策③｜月次経営管理を高速化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第1作ダッシュボードを、意思決定に結びつく運用へ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828800"/>
            <a:ext cx="2688336" cy="2852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" y="2148840"/>
            <a:ext cx="2331720" cy="5760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86FAD"/>
                </a:solidFill>
                <a:latin typeface="Noto Sans CJK JP"/>
              </a:defRPr>
            </a:pPr>
            <a:r>
              <a:t>STEP 1 / 集計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" y="2990088"/>
            <a:ext cx="2286000" cy="120700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3145"/>
                </a:solidFill>
                <a:latin typeface="Noto Sans CJK JP"/>
              </a:defRPr>
            </a:pPr>
            <a:r>
              <a:t>売上・予算・工数・利益を同じ定義で更新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688336" cy="2852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48840"/>
            <a:ext cx="2331720" cy="5760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86FAD"/>
                </a:solidFill>
                <a:latin typeface="Noto Sans CJK JP"/>
              </a:defRPr>
            </a:pPr>
            <a:r>
              <a:t>STEP 2 / 発見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90088"/>
            <a:ext cx="2286000" cy="120700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3145"/>
                </a:solidFill>
                <a:latin typeface="Noto Sans CJK JP"/>
              </a:defRPr>
            </a:pPr>
            <a:r>
              <a:t>部門・案件・月次の異常値を自動抽出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1828800"/>
            <a:ext cx="2688336" cy="2852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148840"/>
            <a:ext cx="2331720" cy="5760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A8E72"/>
                </a:solidFill>
                <a:latin typeface="Noto Sans CJK JP"/>
              </a:defRPr>
            </a:pPr>
            <a:r>
              <a:t>STEP 3 / 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990088"/>
            <a:ext cx="2286000" cy="120700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3145"/>
                </a:solidFill>
                <a:latin typeface="Noto Sans CJK JP"/>
              </a:defRPr>
            </a:pPr>
            <a:r>
              <a:t>AIのコメント案を経営担当者が検証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1828800"/>
            <a:ext cx="2688336" cy="2852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7" y="2148840"/>
            <a:ext cx="2331720" cy="5760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A8E72"/>
                </a:solidFill>
                <a:latin typeface="Noto Sans CJK JP"/>
              </a:defRPr>
            </a:pPr>
            <a:r>
              <a:t>STEP 4 / 実行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7" y="2990088"/>
            <a:ext cx="2286000" cy="120700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F3145"/>
                </a:solidFill>
                <a:latin typeface="Noto Sans CJK JP"/>
              </a:defRPr>
            </a:pPr>
            <a:r>
              <a:t>対策の担当・期限・効果を翌月確認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515600" cy="74980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243E"/>
                </a:solidFill>
                <a:latin typeface="Noto Sans CJK JP"/>
              </a:defRPr>
            </a:pPr>
            <a:r>
              <a:t>重要：ダッシュボードは結果を示す道具。判断の質は、入力データの正確性と会議での運用に依存する。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12週間の導入ロードマップ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全社一斉導入ではなく、検証 → 試行 → 判断の順に進める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874519"/>
            <a:ext cx="2724912" cy="29535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" y="1874519"/>
            <a:ext cx="2724912" cy="658368"/>
          </a:xfrm>
          <a:prstGeom prst="rect">
            <a:avLst/>
          </a:prstGeom>
          <a:solidFill>
            <a:srgbClr val="18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11680"/>
            <a:ext cx="2377440" cy="3474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JP"/>
              </a:defRPr>
            </a:pPr>
            <a:r>
              <a:t>第1–4週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52344"/>
            <a:ext cx="2350008" cy="47548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243E"/>
                </a:solidFill>
                <a:latin typeface="Noto Sans CJK JP"/>
              </a:defRPr>
            </a:pPr>
            <a:r>
              <a:t>現状把握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502152"/>
            <a:ext cx="2350008" cy="93268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F3145"/>
                </a:solidFill>
                <a:latin typeface="Noto Sans CJK JP"/>
              </a:defRPr>
            </a:pPr>
            <a:r>
              <a:t>業務棚卸 / データ定義 / 基準値計測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874519"/>
            <a:ext cx="2724912" cy="29535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874519"/>
            <a:ext cx="2724912" cy="658368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011680"/>
            <a:ext cx="2377440" cy="3474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JP"/>
              </a:defRPr>
            </a:pPr>
            <a:r>
              <a:t>第5–8週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752344"/>
            <a:ext cx="2350008" cy="47548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243E"/>
                </a:solidFill>
                <a:latin typeface="Noto Sans CJK JP"/>
              </a:defRPr>
            </a:pPr>
            <a:r>
              <a:t>限定PoC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3502152"/>
            <a:ext cx="2350008" cy="93268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F3145"/>
                </a:solidFill>
                <a:latin typeface="Noto Sans CJK JP"/>
              </a:defRPr>
            </a:pPr>
            <a:r>
              <a:t>対象10名で3業務を試行 / 精度と時間を測定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1874519"/>
            <a:ext cx="2724912" cy="29535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4" y="1874519"/>
            <a:ext cx="2724912" cy="658368"/>
          </a:xfrm>
          <a:prstGeom prst="rect">
            <a:avLst/>
          </a:prstGeom>
          <a:solidFill>
            <a:srgbClr val="1A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011680"/>
            <a:ext cx="2377440" cy="3474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JP"/>
              </a:defRPr>
            </a:pPr>
            <a:r>
              <a:t>第9–10週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52344"/>
            <a:ext cx="2350008" cy="47548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243E"/>
                </a:solidFill>
                <a:latin typeface="Noto Sans CJK JP"/>
              </a:defRPr>
            </a:pPr>
            <a:r>
              <a:t>効果検証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502152"/>
            <a:ext cx="2350008" cy="93268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F3145"/>
                </a:solidFill>
                <a:latin typeface="Noto Sans CJK JP"/>
              </a:defRPr>
            </a:pPr>
            <a:r>
              <a:t>品質・工数・利用率 / セキュリティ確認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1874519"/>
            <a:ext cx="2724912" cy="29535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53728" y="1874519"/>
            <a:ext cx="2724912" cy="658368"/>
          </a:xfrm>
          <a:prstGeom prst="rect">
            <a:avLst/>
          </a:prstGeom>
          <a:solidFill>
            <a:srgbClr val="11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27464" y="2011680"/>
            <a:ext cx="2377440" cy="34747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Noto Sans CJK JP"/>
              </a:defRPr>
            </a:pPr>
            <a:r>
              <a:t>第11–12週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4" y="2752344"/>
            <a:ext cx="2350008" cy="47548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1243E"/>
                </a:solidFill>
                <a:latin typeface="Noto Sans CJK JP"/>
              </a:defRPr>
            </a:pPr>
            <a:r>
              <a:t>拡張判断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3502152"/>
            <a:ext cx="2350008" cy="93268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F3145"/>
                </a:solidFill>
                <a:latin typeface="Noto Sans CJK JP"/>
              </a:defRPr>
            </a:pPr>
            <a:r>
              <a:t>対象部署・予算・管理体制を決定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404104"/>
            <a:ext cx="10789920" cy="62179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243E"/>
                </a:solidFill>
                <a:latin typeface="Noto Sans CJK JP"/>
              </a:defRPr>
            </a:pPr>
            <a:r>
              <a:t>ゲート条件：情報漏えい・重大誤回答がない / 正確性が許容水準 / 業務時間が計測上改善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費用対効果の試算｜仮定を明示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参考シナリオ。実績予測ではなく、PoCで検証すべき経済性の目安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3429000" cy="1179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28216"/>
            <a:ext cx="3118104" cy="50292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A8E72"/>
                </a:solidFill>
                <a:latin typeface="Noto Sans CJK JP"/>
              </a:defRPr>
            </a:pPr>
            <a:r>
              <a:t>240万円/年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40864"/>
            <a:ext cx="3108960" cy="265176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27181"/>
                </a:solidFill>
                <a:latin typeface="Noto Sans CJK JP"/>
              </a:defRPr>
            </a:pPr>
            <a:r>
              <a:t>創出可能な時間価値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00200"/>
            <a:ext cx="3429000" cy="1179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28216"/>
            <a:ext cx="3118104" cy="50292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DC873C"/>
                </a:solidFill>
                <a:latin typeface="Noto Sans CJK JP"/>
              </a:defRPr>
            </a:pPr>
            <a:r>
              <a:t>204万円/年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40864"/>
            <a:ext cx="3108960" cy="265176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27181"/>
                </a:solidFill>
                <a:latin typeface="Noto Sans CJK JP"/>
              </a:defRPr>
            </a:pPr>
            <a:r>
              <a:t>初年度導入・運用費用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600200"/>
            <a:ext cx="3429000" cy="1179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728216"/>
            <a:ext cx="3118104" cy="50292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86FAD"/>
                </a:solidFill>
                <a:latin typeface="Noto Sans CJK JP"/>
              </a:defRPr>
            </a:pPr>
            <a:r>
              <a:t>36万円/年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340864"/>
            <a:ext cx="3108960" cy="265176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27181"/>
                </a:solidFill>
                <a:latin typeface="Noto Sans CJK JP"/>
              </a:defRPr>
            </a:pPr>
            <a:r>
              <a:t>初年度差引の時間価値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5157216" cy="2386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68580" cy="2386584"/>
          </a:xfrm>
          <a:prstGeom prst="rect">
            <a:avLst/>
          </a:prstGeom>
          <a:solidFill>
            <a:srgbClr val="18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374136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時間価値の前提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913632"/>
            <a:ext cx="4700016" cy="1609343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20名 × 1日20分短縮 × 月20営業日 × 12か月 × 活用率50% × 時間価値3,000円 = 240万円/年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200400"/>
            <a:ext cx="5312664" cy="23865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200400"/>
            <a:ext cx="68580" cy="2386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374136"/>
            <a:ext cx="4855464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費用の前提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913632"/>
            <a:ext cx="4855464" cy="1609343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初期設定・研修60万円 ＋ ツール・保守月12万円 × 12か月 = 204万円/年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97880"/>
            <a:ext cx="10725912" cy="329184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C14F4F"/>
                </a:solidFill>
                <a:latin typeface="Noto Sans CJK JP"/>
              </a:defRPr>
            </a:pPr>
            <a:r>
              <a:t>注：時間価値は利益増加・現金支出削減を意味しない。創出時間の再配置による売上・利益効果は別途測定。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経営会議で承認を求める3つの事項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「AIを入れるか」ではなく「どこまで試し、何を基準に判断するか」を決める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655064"/>
            <a:ext cx="3474720" cy="3300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55064"/>
            <a:ext cx="68580" cy="3300984"/>
          </a:xfrm>
          <a:prstGeom prst="rect">
            <a:avLst/>
          </a:prstGeom>
          <a:solidFill>
            <a:srgbClr val="18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01｜試行対象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68296"/>
            <a:ext cx="3017520" cy="2523744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IT・TRNの採算管理と、文書作成の反復業務を優先。10名・12週間のPoCを許可。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655064"/>
            <a:ext cx="3474720" cy="3300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655064"/>
            <a:ext cx="68580" cy="33009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828800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02｜責任体制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68296"/>
            <a:ext cx="3017520" cy="2523744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経営責任者・部門管理者・情報管理担当を指定。AI出力は必ず人が検証。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55064"/>
            <a:ext cx="3474720" cy="3300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655064"/>
            <a:ext cx="68580" cy="3300984"/>
          </a:xfrm>
          <a:prstGeom prst="rect">
            <a:avLst/>
          </a:prstGeom>
          <a:solidFill>
            <a:srgbClr val="1A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03｜継続判断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68296"/>
            <a:ext cx="3017520" cy="2523744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精度・工数・利用率・再配分効果を測定。数値が未達なら改善または中止。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422392"/>
            <a:ext cx="10771632" cy="713232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提案のゴール：AI活用の件数ではなく、採算改善を継続できる業務・経営管理の仕組みを確立する。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9768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2900" b="1">
                <a:solidFill>
                  <a:srgbClr val="11243E"/>
                </a:solidFill>
                <a:latin typeface="Noto Sans CJK JP"/>
              </a:defRPr>
            </a:pPr>
            <a:r>
              <a:t>データ出典・制作プロセス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78992"/>
            <a:ext cx="10881360" cy="411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27181"/>
                </a:solidFill>
                <a:latin typeface="Noto Sans CJK JP"/>
              </a:defRPr>
            </a:pPr>
            <a:r>
              <a:t>採用面接時に「データ / 仮説 / AI活用範囲」を説明できる状態にする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6501384"/>
            <a:ext cx="11018520" cy="10972"/>
          </a:xfrm>
          <a:prstGeom prst="rect">
            <a:avLst/>
          </a:prstGeom>
          <a:solidFill>
            <a:srgbClr val="CF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27181"/>
                </a:solidFill>
                <a:latin typeface="Noto Sans CJK JP"/>
              </a:defRPr>
            </a:pPr>
            <a:r>
              <a:t>AI導入・経営改善提案  |  架空企業・ケーススタディ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365760" cy="2286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627181"/>
                </a:solidFill>
                <a:latin typeface="Noto Sans CJK JP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655064"/>
            <a:ext cx="5340096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55064"/>
            <a:ext cx="68580" cy="3520440"/>
          </a:xfrm>
          <a:prstGeom prst="rect">
            <a:avLst/>
          </a:prstGeom>
          <a:solidFill>
            <a:srgbClr val="18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4882896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データと前提の区分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68296"/>
            <a:ext cx="4882896" cy="27432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【分析用データ】第1作の架空取引608件から集計。売上6億3,087万円、利益2,976万円。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【推論】低利益率の原因候補は未検証の仮説。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【試算】人員・単価・導入費用・削減時間は説明用の仮定。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655064"/>
            <a:ext cx="5340096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655064"/>
            <a:ext cx="68580" cy="3520440"/>
          </a:xfrm>
          <a:prstGeom prst="rect">
            <a:avLst/>
          </a:prstGeom>
          <a:solidFill>
            <a:srgbClr val="25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28800"/>
            <a:ext cx="4882896" cy="38404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243E"/>
                </a:solidFill>
                <a:latin typeface="Noto Sans CJK JP"/>
              </a:defRPr>
            </a:pPr>
            <a:r>
              <a:t>AI活用と人間の判断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368296"/>
            <a:ext cx="4882896" cy="274320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AI：構成案、文書・施策案、試算と表現の草案作成。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人間：改善課題の優先順位、前提の妥当性、リスク、意思決定基準を確認。</a:t>
            </a: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1F3145"/>
                </a:solidFill>
                <a:latin typeface="Noto Sans CJK JP"/>
              </a:defRPr>
            </a:pPr>
            <a:r>
              <a:t>実務では機密情報を外部AIへ無断入力しない。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687568"/>
            <a:ext cx="10579608" cy="429768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14F4F"/>
                </a:solidFill>
                <a:latin typeface="Noto Sans CJK JP"/>
              </a:defRPr>
            </a:pPr>
            <a:r>
              <a:t>※本資料は転職用ポートフォリオであり、実在企業への診断・導入実績を示すものではありません。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